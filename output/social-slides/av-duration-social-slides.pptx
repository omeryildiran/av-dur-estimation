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e091b1872a4ead" /><Relationship Type="http://schemas.openxmlformats.org/officeDocument/2006/relationships/extended-properties" Target="/docProps/app.xml" Id="Rb9fba5ca4f5945a9" /><Relationship Type="http://schemas.openxmlformats.org/officeDocument/2006/relationships/officeDocument" Target="/ppt/presentation.xml" Id="Rb02b5de664d64d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2c83f13ebe438f"/>
  </p:sldMasterIdLst>
  <p:notesMasterIdLst>
    <p:notesMasterId xmlns:r="http://schemas.openxmlformats.org/officeDocument/2006/relationships" r:id="Rd8953d75f5394b07"/>
  </p:notesMasterIdLst>
  <p:sldIdLst>
    <p:sldId xmlns:r="http://schemas.openxmlformats.org/officeDocument/2006/relationships" id="256" r:id="R3fbbe6aa199145e4"/>
    <p:sldId xmlns:r="http://schemas.openxmlformats.org/officeDocument/2006/relationships" id="257" r:id="R9c4d21b3bac34f91"/>
    <p:sldId xmlns:r="http://schemas.openxmlformats.org/officeDocument/2006/relationships" id="258" r:id="R84af4e11f93144f2"/>
    <p:sldId xmlns:r="http://schemas.openxmlformats.org/officeDocument/2006/relationships" id="259" r:id="R3fbc806db3d54dcf"/>
    <p:sldId xmlns:r="http://schemas.openxmlformats.org/officeDocument/2006/relationships" id="260" r:id="R7d69eeb835f14399"/>
    <p:sldId xmlns:r="http://schemas.openxmlformats.org/officeDocument/2006/relationships" id="261" r:id="Ra6a220c8660648d3"/>
  </p:sldIdLst>
  <p:sldSz cx="10287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4f2658b1924ef0" /><Relationship Type="http://schemas.openxmlformats.org/officeDocument/2006/relationships/slideMaster" Target="/ppt/slideMasters/slideMaster1.xml" Id="Rc22c83f13ebe438f" /><Relationship Type="http://schemas.openxmlformats.org/officeDocument/2006/relationships/notesMaster" Target="/ppt/notesMasters/notesMaster1.xml" Id="Rd8953d75f5394b07" /><Relationship Type="http://schemas.openxmlformats.org/officeDocument/2006/relationships/presProps" Target="/ppt/presProps.xml" Id="Rfe994c312f0d438e" /><Relationship Type="http://schemas.openxmlformats.org/officeDocument/2006/relationships/tableStyles" Target="/ppt/tableStyles.xml" Id="Rbb9265c5fdfa4465" /><Relationship Type="http://schemas.openxmlformats.org/officeDocument/2006/relationships/slide" Target="/ppt/slides/slide1.xml" Id="R3fbbe6aa199145e4" /><Relationship Type="http://schemas.openxmlformats.org/officeDocument/2006/relationships/slide" Target="/ppt/slides/slide2.xml" Id="R9c4d21b3bac34f91" /><Relationship Type="http://schemas.openxmlformats.org/officeDocument/2006/relationships/slide" Target="/ppt/slides/slide3.xml" Id="R84af4e11f93144f2" /><Relationship Type="http://schemas.openxmlformats.org/officeDocument/2006/relationships/slide" Target="/ppt/slides/slide4.xml" Id="R3fbc806db3d54dcf" /><Relationship Type="http://schemas.openxmlformats.org/officeDocument/2006/relationships/slide" Target="/ppt/slides/slide5.xml" Id="R7d69eeb835f14399" /><Relationship Type="http://schemas.openxmlformats.org/officeDocument/2006/relationships/slide" Target="/ppt/slides/slide6.xml" Id="Ra6a220c8660648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3627dd37a894f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c2d85095db4e9f" /><Relationship Type="http://schemas.openxmlformats.org/officeDocument/2006/relationships/notesMaster" Target="/ppt/notesMasters/notesMaster1.xml" Id="R4b4125cb1fa545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bb36e788c4489e" /><Relationship Type="http://schemas.openxmlformats.org/officeDocument/2006/relationships/notesMaster" Target="/ppt/notesMasters/notesMaster1.xml" Id="R1bb9d5951a8d45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a358e0654a47c1" /><Relationship Type="http://schemas.openxmlformats.org/officeDocument/2006/relationships/notesMaster" Target="/ppt/notesMasters/notesMaster1.xml" Id="R0bd687191c054d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23b58e7e5049b8" /><Relationship Type="http://schemas.openxmlformats.org/officeDocument/2006/relationships/notesMaster" Target="/ppt/notesMasters/notesMaster1.xml" Id="R5e7d2bb7fb1249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7668ddd3034a58" /><Relationship Type="http://schemas.openxmlformats.org/officeDocument/2006/relationships/notesMaster" Target="/ppt/notesMasters/notesMaster1.xml" Id="R69b7165d571a4a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d789e3d2a34752" /><Relationship Type="http://schemas.openxmlformats.org/officeDocument/2006/relationships/notesMaster" Target="/ppt/notesMasters/notesMaster1.xml" Id="R3d3c24948c204f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Yildiran, Ni, and Landy, Duration judgments with conflicting audiovisual cues, bioRxiv preprint.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Introduction and causal-inference model sections of the manuscript.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Manuscript Figure: Audiovisual conflict in the bimodal experimental task. Seven conflicts from -250 to +250 ms and two auditory-noise conditions.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Manuscript Figure: Effect of audiovisual conflict on perceived auditory duration. Low-noise mean slope 0.148 ms/ms; high-noise mean slope 0.505 ms/ms.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Manuscript Figure: Measured and predicted PSE shifts. All three models produce overlapping, approximately linear predictions across the tested conflict range.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Model fitting, model comparison, and conclusions sections of the manuscript. Cue switching had the lowest AIC for 8 of 11 participants, while model-performance differences remained small.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47c32422644a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184869ed534d5a" /><Relationship Type="http://schemas.openxmlformats.org/officeDocument/2006/relationships/slideLayout" Target="/ppt/slideLayouts/slideLayout1.xml" Id="R4885e8e72ed041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85e8e72ed041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3e4985c28f4c61" /><Relationship Type="http://schemas.openxmlformats.org/officeDocument/2006/relationships/notesSlide" Target="/ppt/notesSlides/notesSlide1.xml" Id="R62b086be3b894f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379ce6288b4ff8" /><Relationship Type="http://schemas.openxmlformats.org/officeDocument/2006/relationships/notesSlide" Target="/ppt/notesSlides/notesSlide2.xml" Id="R1202ee8def274f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44285f26847c3" /><Relationship Type="http://schemas.openxmlformats.org/officeDocument/2006/relationships/image" Target="/ppt/media/image.png" Id="Ra7b12f3887654256" /><Relationship Type="http://schemas.openxmlformats.org/officeDocument/2006/relationships/notesSlide" Target="/ppt/notesSlides/notesSlide3.xml" Id="Rd2a500f1fc5049e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37a008a124abf" /><Relationship Type="http://schemas.openxmlformats.org/officeDocument/2006/relationships/image" Target="/ppt/media/image2.png" Id="R678129200f504a1e" /><Relationship Type="http://schemas.openxmlformats.org/officeDocument/2006/relationships/notesSlide" Target="/ppt/notesSlides/notesSlide4.xml" Id="Ra4d916fe3dc443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f94d6ce1f453b" /><Relationship Type="http://schemas.openxmlformats.org/officeDocument/2006/relationships/image" Target="/ppt/media/image3.png" Id="R6a86f1c3de2f443e" /><Relationship Type="http://schemas.openxmlformats.org/officeDocument/2006/relationships/notesSlide" Target="/ppt/notesSlides/notesSlide5.xml" Id="Rd8fe800e13da4b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b599138f944253" /><Relationship Type="http://schemas.openxmlformats.org/officeDocument/2006/relationships/notesSlide" Target="/ppt/notesSlides/notesSlide6.xml" Id="R9bf0ba8dc2c148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34646C-8012-48D2-A213-F1AC2856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19DE2-782A-42FC-A2C2-051D1F4C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96202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rPr>
              <a:t>1/6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830B5-72AC-46F2-9E9D-EE5A6A66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52500"/>
            <a:ext cx="885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8400" b="1">
                <a:solidFill>
                  <a:srgbClr val="267E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400" b="1">
                <a:solidFill>
                  <a:srgbClr val="267EB5"/>
                </a:solidFill>
                <a:latin typeface="Helvetica Neue"/>
                <a:ea typeface="Helvetica Neue"/>
                <a:cs typeface="Helvetica Neue"/>
              </a:rPr>
              <a:t>00:00.500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B7EF02-0FC3-4E50-ADB8-996382F3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13335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84A3A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51C138-7FBB-44DD-89CA-5DE4DBB8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8763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rPr>
              <a:t>When sight and sound</a:t>
            </a:r>
          </a:p>
          <a:p xmlns:a="http://schemas.openxmlformats.org/drawingml/2006/main">
            <a:pPr>
              <a:defRPr sz="540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rPr>
              <a:t>disagree about 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85B5B-B02A-4F0C-95DA-91703756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72250"/>
            <a:ext cx="7715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rPr>
              <a:t>Can visual duration change how long a sound seems?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8BC75-1F7F-4AD9-B725-E9714C0E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858250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rPr>
              <a:t>Duration judgments with conflicting audiovisual cues</a:t>
            </a:r>
          </a:p>
        </p:txBody>
      </p:sp>
    </p:spTree>
    <p:extLst>
      <p:ext uri="{BB962C8B-B14F-4D97-AF65-F5344CB8AC3E}">
        <p14:creationId xmlns:p14="http://schemas.microsoft.com/office/powerpoint/2010/main" val="2013157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356ACE-3D33-4657-9AFC-E5A57B3A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50450-72FF-4AFC-9864-183D8336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96202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rPr>
              <a:t>2/6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B42D9-3310-467D-BB17-5AECD2EA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09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rPr>
              <a:t>The 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91431-8DAA-4A35-A183-C97D7AA79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8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87C78"/>
                </a:solidFill>
                <a:latin typeface="Helvetica Neue"/>
                <a:ea typeface="Helvetica Neue"/>
                <a:cs typeface="Helvetica Neue"/>
              </a:rPr>
              <a:t>Small conflict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2076B6-41CA-4CD8-A8E1-4BE07BBA0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3905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rPr>
              <a:t>The senses may belong</a:t>
            </a:r>
          </a:p>
          <a:p xmlns:a="http://schemas.openxmlformats.org/drawingml/2006/main">
            <a:pPr>
              <a:defRPr sz="315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rPr>
              <a:t>to one event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7F30AC-FFE3-437C-AA32-FD6D54BC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381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8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287C78"/>
                </a:solidFill>
                <a:latin typeface="Helvetica Neue"/>
                <a:ea typeface="Helvetica Neue"/>
                <a:cs typeface="Helvetica Neue"/>
              </a:rPr>
              <a:t>Integrate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038F33-9CC3-494D-A10D-995FB265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19300"/>
            <a:ext cx="28575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B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4865D-CF80-4C18-8D6F-F4E4D7FA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812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84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84A3A"/>
                </a:solidFill>
                <a:latin typeface="Helvetica Neue"/>
                <a:ea typeface="Helvetica Neue"/>
                <a:cs typeface="Helvetica Neue"/>
              </a:rPr>
              <a:t>Large conflict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8014F3-F565-4AF6-9D58-86CFAB41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86100"/>
            <a:ext cx="3905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rPr>
              <a:t>Do the senses still seem</a:t>
            </a:r>
          </a:p>
          <a:p xmlns:a="http://schemas.openxmlformats.org/drawingml/2006/main">
            <a:pPr>
              <a:defRPr sz="315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rPr>
              <a:t>to share a cause?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A5728E-8ED0-475F-842B-28BCD40F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62500"/>
            <a:ext cx="3810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D84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D84A3A"/>
                </a:solidFill>
                <a:latin typeface="Helvetica Neue"/>
                <a:ea typeface="Helvetica Neue"/>
                <a:cs typeface="Helvetica Neue"/>
              </a:rPr>
              <a:t>Segregate?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27795D-BEEE-48BA-8E20-E554592A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562850"/>
            <a:ext cx="847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rPr>
              <a:t>Causal inference predicts less integration as the conflict grows.</a:t>
            </a:r>
          </a:p>
        </p:txBody>
      </p:sp>
    </p:spTree>
    <p:extLst>
      <p:ext uri="{BB962C8B-B14F-4D97-AF65-F5344CB8AC3E}">
        <p14:creationId xmlns:p14="http://schemas.microsoft.com/office/powerpoint/2010/main" val="20578611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61052-6C33-4BE9-AA67-6EE6CF80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E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D97C4-7568-42F3-B113-A079C8A7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96202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rPr>
              <a:t>3/6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ED4DE7-462B-4DAF-83FA-7FA9B8AF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95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rPr>
              <a:t>Audiovisual duration conflict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BD65C-B7BA-4ADC-8BE4-C286931D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rPr>
              <a:t>Participants judged the sound. The visual duration varied.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367561-F372-466E-A7CA-27868DD6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9105900" cy="4972050"/>
          </a:xfrm>
          <a:prstGeom xmlns:a="http://schemas.openxmlformats.org/drawingml/2006/main" prst="roundRect">
            <a:avLst>
              <a:gd name="adj" fmla="val 42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b12f3887654256"/>
          <a:stretch xmlns:a="http://schemas.openxmlformats.org/drawingml/2006/main"/>
        </p:blipFill>
        <p:spPr>
          <a:xfrm xmlns:a="http://schemas.openxmlformats.org/drawingml/2006/main">
            <a:off x="838200" y="3150113"/>
            <a:ext cx="8610600" cy="384389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BF6EBC-2635-4559-9F39-2928128C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391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84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D84A3A"/>
                </a:solidFill>
                <a:latin typeface="Helvetica Neue"/>
                <a:ea typeface="Helvetica Neue"/>
                <a:cs typeface="Helvetica Neue"/>
              </a:rPr>
              <a:t>7 conflict levels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974CDE-C91B-4B5C-9B4E-2E8569F1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572500"/>
            <a:ext cx="361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rPr>
              <a:t>−250 to +250 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0AC6E0-C6E3-44BD-BB92-30759969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80391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67E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67EB5"/>
                </a:solidFill>
                <a:latin typeface="Helvetica Neue"/>
                <a:ea typeface="Helvetica Neue"/>
                <a:cs typeface="Helvetica Neue"/>
              </a:rPr>
              <a:t>2 auditory noise levels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DA60AA-BEE5-4234-8DBC-0A0CDD16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85915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42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42A36"/>
                </a:solidFill>
                <a:latin typeface="Helvetica Neue"/>
                <a:ea typeface="Helvetica Neue"/>
                <a:cs typeface="Helvetica Neue"/>
              </a:rPr>
              <a:t>clear sound  /  noisy sound</a:t>
            </a:r>
          </a:p>
        </p:txBody>
      </p:sp>
    </p:spTree>
    <p:extLst>
      <p:ext uri="{BB962C8B-B14F-4D97-AF65-F5344CB8AC3E}">
        <p14:creationId xmlns:p14="http://schemas.microsoft.com/office/powerpoint/2010/main" val="15825957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E0F4B8-543D-4396-A284-BE028DA2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4A3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ECF45B-28B4-4847-82C5-AEC0589C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96202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rPr>
              <a:t>4/6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9FAF3-8D01-4B4A-B924-7B634399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95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rPr>
              <a:t>Vision pulled auditory judgments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86BC4-5EC6-44AF-AEEC-F095A3E8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715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rPr>
              <a:t>The pull grew with cue conflict and became much stronger when sound was noisy.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DAD934-2A62-416C-8101-C2D25E40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9850"/>
            <a:ext cx="9144000" cy="5810250"/>
          </a:xfrm>
          <a:prstGeom xmlns:a="http://schemas.openxmlformats.org/drawingml/2006/main" prst="roundRect">
            <a:avLst>
              <a:gd name="adj" fmla="val 36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8129200f504a1e"/>
          <a:stretch xmlns:a="http://schemas.openxmlformats.org/drawingml/2006/main"/>
        </p:blipFill>
        <p:spPr>
          <a:xfrm xmlns:a="http://schemas.openxmlformats.org/drawingml/2006/main">
            <a:off x="742950" y="3036718"/>
            <a:ext cx="8801100" cy="499461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A2466-13FD-4EC7-BB43-B5D16D4A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820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267E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>
                <a:solidFill>
                  <a:srgbClr val="267EB5"/>
                </a:solidFill>
                <a:latin typeface="Helvetica Neue"/>
                <a:ea typeface="Helvetica Neue"/>
                <a:cs typeface="Helvetica Neue"/>
              </a:rPr>
              <a:t>Less reliable sound gave vision more influence.</a:t>
            </a:r>
          </a:p>
        </p:txBody>
      </p:sp>
    </p:spTree>
    <p:extLst>
      <p:ext uri="{BB962C8B-B14F-4D97-AF65-F5344CB8AC3E}">
        <p14:creationId xmlns:p14="http://schemas.microsoft.com/office/powerpoint/2010/main" val="80284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6B5C0-393B-48B5-92AB-B7CC2792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C7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771E94-EE1F-4214-A4D7-1095A56D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96202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rPr>
              <a:t>5/6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5090E-AE0F-404A-9474-84E8CC47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95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rPr>
              <a:t>Three models, almost one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66DD8-0787-400C-8342-145243A0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rPr>
              <a:t>Forced fusion, causal inference, and cue switching produced nearly overlapping shifts.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423D5-EE39-42FA-A5A4-A12C6907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9144000" cy="5667375"/>
          </a:xfrm>
          <a:prstGeom xmlns:a="http://schemas.openxmlformats.org/drawingml/2006/main" prst="roundRect">
            <a:avLst>
              <a:gd name="adj" fmla="val 36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86f1c3de2f443e"/>
          <a:stretch xmlns:a="http://schemas.openxmlformats.org/drawingml/2006/main"/>
        </p:blipFill>
        <p:spPr>
          <a:xfrm xmlns:a="http://schemas.openxmlformats.org/drawingml/2006/main">
            <a:off x="704850" y="3172869"/>
            <a:ext cx="8858250" cy="456991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02035-2DE0-480E-A539-2A702A3D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058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8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287C78"/>
                </a:solidFill>
                <a:latin typeface="Helvetica Neue"/>
                <a:ea typeface="Helvetica Neue"/>
                <a:cs typeface="Helvetica Neue"/>
              </a:rPr>
              <a:t>The predicted causal-inference bend was weak within the tested range.</a:t>
            </a:r>
          </a:p>
        </p:txBody>
      </p:sp>
    </p:spTree>
    <p:extLst>
      <p:ext uri="{BB962C8B-B14F-4D97-AF65-F5344CB8AC3E}">
        <p14:creationId xmlns:p14="http://schemas.microsoft.com/office/powerpoint/2010/main" val="4517280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3A0758-5F4F-4E19-96EC-EA97D8A0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7E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53117-319F-4FF9-AB33-46E805AA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9620250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B6870"/>
                </a:solidFill>
                <a:latin typeface="Helvetica Neue"/>
                <a:ea typeface="Helvetica Neue"/>
                <a:cs typeface="Helvetica Neue"/>
              </a:rPr>
              <a:t>6/6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194B9-6BF5-4D2D-BC67-1F6CCB41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95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rPr>
              <a:t>What did the models say?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CAE15-92E7-4220-B105-1BAA2200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450" b="1">
                <a:solidFill>
                  <a:srgbClr val="267EB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450" b="1">
                <a:solidFill>
                  <a:srgbClr val="267EB5"/>
                </a:solidFill>
                <a:latin typeface="Helvetica Neue"/>
                <a:ea typeface="Helvetica Neue"/>
                <a:cs typeface="Helvetica Neue"/>
              </a:rPr>
              <a:t>8 /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2C887-BADA-40C1-BEFD-616C8261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5715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rPr>
              <a:t>participants were best fit by</a:t>
            </a:r>
          </a:p>
          <a:p xmlns:a="http://schemas.openxmlformats.org/drawingml/2006/main">
            <a:pPr>
              <a:defRPr sz="2925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42A36"/>
                </a:solidFill>
                <a:latin typeface="Helvetica Neue"/>
                <a:ea typeface="Helvetica Neue"/>
                <a:cs typeface="Helvetica Neue"/>
              </a:rPr>
              <a:t>probabilistic cue switching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91E3D-37A9-4394-BA36-DEBF61EB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885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B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B26C40-833F-48EF-8CD3-1EB56F00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D84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D84A3A"/>
                </a:solidFill>
                <a:latin typeface="Helvetica Neue"/>
                <a:ea typeface="Helvetica Neue"/>
                <a:cs typeface="Helvetica Neue"/>
              </a:rPr>
              <a:t>But the differences among models were small.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A03657-7F6C-407A-8CB5-13CC66B6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93420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142A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142A36"/>
                </a:solidFill>
                <a:latin typeface="Helvetica Neue"/>
                <a:ea typeface="Helvetica Neue"/>
                <a:cs typeface="Helvetica Neue"/>
              </a:rPr>
              <a:t>High sensory noise made forced fusion and causal inference especially difficult to tell apart.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7D11FF-D220-495C-AA09-38ED5A18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915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8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87C78"/>
                </a:solidFill>
                <a:latin typeface="Helvetica Neue"/>
                <a:ea typeface="Helvetica Neue"/>
                <a:cs typeface="Helvetica Neue"/>
              </a:rPr>
              <a:t>No clear breakdown of integration within the tested conflict range</a:t>
            </a:r>
          </a:p>
        </p:txBody>
      </p:sp>
    </p:spTree>
    <p:extLst>
      <p:ext uri="{BB962C8B-B14F-4D97-AF65-F5344CB8AC3E}">
        <p14:creationId xmlns:p14="http://schemas.microsoft.com/office/powerpoint/2010/main" val="7437476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2026-09-18T19:29:03.3390000Z</dcterms:created>
  <dcterms:modified xsi:type="dcterms:W3CDTF">2026-09-18T19:29:03.3390000Z</dcterms:modified>
</coreProperties>
</file>