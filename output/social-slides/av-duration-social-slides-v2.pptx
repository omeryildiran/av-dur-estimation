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2b22b19af194d83" /><Relationship Type="http://schemas.openxmlformats.org/officeDocument/2006/relationships/extended-properties" Target="/docProps/app.xml" Id="R5b5b2148052b4dd4" /><Relationship Type="http://schemas.openxmlformats.org/officeDocument/2006/relationships/officeDocument" Target="/ppt/presentation.xml" Id="Rf635c018115f4a4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d43e336fda74066"/>
  </p:sldMasterIdLst>
  <p:notesMasterIdLst>
    <p:notesMasterId xmlns:r="http://schemas.openxmlformats.org/officeDocument/2006/relationships" r:id="R512f70d7dcbb4f25"/>
  </p:notesMasterIdLst>
  <p:sldIdLst>
    <p:sldId xmlns:r="http://schemas.openxmlformats.org/officeDocument/2006/relationships" id="256" r:id="R77bb8e0c172342f5"/>
    <p:sldId xmlns:r="http://schemas.openxmlformats.org/officeDocument/2006/relationships" id="257" r:id="R42de88ef9ed54fb6"/>
    <p:sldId xmlns:r="http://schemas.openxmlformats.org/officeDocument/2006/relationships" id="258" r:id="Rbe14f7d241634234"/>
    <p:sldId xmlns:r="http://schemas.openxmlformats.org/officeDocument/2006/relationships" id="259" r:id="R01c20a69f95a4303"/>
    <p:sldId xmlns:r="http://schemas.openxmlformats.org/officeDocument/2006/relationships" id="260" r:id="R8432b9ea04834076"/>
    <p:sldId xmlns:r="http://schemas.openxmlformats.org/officeDocument/2006/relationships" id="261" r:id="Rcdccb78896254dd7"/>
  </p:sldIdLst>
  <p:sldSz cx="10287000" cy="10287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a28c7d63e9f4acf" /><Relationship Type="http://schemas.openxmlformats.org/officeDocument/2006/relationships/slideMaster" Target="/ppt/slideMasters/slideMaster1.xml" Id="Rbd43e336fda74066" /><Relationship Type="http://schemas.openxmlformats.org/officeDocument/2006/relationships/notesMaster" Target="/ppt/notesMasters/notesMaster1.xml" Id="R512f70d7dcbb4f25" /><Relationship Type="http://schemas.openxmlformats.org/officeDocument/2006/relationships/presProps" Target="/ppt/presProps.xml" Id="R732605f65335448d" /><Relationship Type="http://schemas.openxmlformats.org/officeDocument/2006/relationships/tableStyles" Target="/ppt/tableStyles.xml" Id="R6465110b3fa4451d" /><Relationship Type="http://schemas.openxmlformats.org/officeDocument/2006/relationships/slide" Target="/ppt/slides/slide1.xml" Id="R77bb8e0c172342f5" /><Relationship Type="http://schemas.openxmlformats.org/officeDocument/2006/relationships/slide" Target="/ppt/slides/slide2.xml" Id="R42de88ef9ed54fb6" /><Relationship Type="http://schemas.openxmlformats.org/officeDocument/2006/relationships/slide" Target="/ppt/slides/slide3.xml" Id="Rbe14f7d241634234" /><Relationship Type="http://schemas.openxmlformats.org/officeDocument/2006/relationships/slide" Target="/ppt/slides/slide4.xml" Id="R01c20a69f95a4303" /><Relationship Type="http://schemas.openxmlformats.org/officeDocument/2006/relationships/slide" Target="/ppt/slides/slide5.xml" Id="R8432b9ea04834076" /><Relationship Type="http://schemas.openxmlformats.org/officeDocument/2006/relationships/slide" Target="/ppt/slides/slide6.xml" Id="Rcdccb78896254dd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4456cda473443d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2f3dc50383a4e52" /><Relationship Type="http://schemas.openxmlformats.org/officeDocument/2006/relationships/notesMaster" Target="/ppt/notesMasters/notesMaster1.xml" Id="Rce3b7ec4c25b4a4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0a4492fae2447dc" /><Relationship Type="http://schemas.openxmlformats.org/officeDocument/2006/relationships/notesMaster" Target="/ppt/notesMasters/notesMaster1.xml" Id="R4f7b4b62d82f423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adc79091e8140f2" /><Relationship Type="http://schemas.openxmlformats.org/officeDocument/2006/relationships/notesMaster" Target="/ppt/notesMasters/notesMaster1.xml" Id="R2e00cfc8a320416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a42fcf801b74a5b" /><Relationship Type="http://schemas.openxmlformats.org/officeDocument/2006/relationships/notesMaster" Target="/ppt/notesMasters/notesMaster1.xml" Id="R5cc4e084f9ae451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e2c4b5f970542f3" /><Relationship Type="http://schemas.openxmlformats.org/officeDocument/2006/relationships/notesMaster" Target="/ppt/notesMasters/notesMaster1.xml" Id="R88afc84409014a0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b7eff0749384176" /><Relationship Type="http://schemas.openxmlformats.org/officeDocument/2006/relationships/notesMaster" Target="/ppt/notesMasters/notesMaster1.xml" Id="R6614ac4d49c6457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Yildiran, Ni, and Landy, Duration judgments with conflicting audiovisual cues, bioRxiv preprint.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Introduction and causal-inference model sections of the manuscript.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Manuscript Figure: Audiovisual conflict in the bimodal experimental task. Seven conflicts from -250 to +250 ms and two auditory-noise conditions.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Manuscript Figure: Effect of audiovisual conflict on perceived auditory duration. Low-noise mean slope 0.148 ms/ms; high-noise mean slope 0.505 ms/ms.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Manuscript Figure: Measured and predicted PSE shifts. All three models produce overlapping, approximately linear predictions across the tested conflict range.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Model fitting, model comparison, and conclusions sections of the manuscript. Cue switching had the lowest AIC for 8 of 11 participants, while model-performance differences remained small.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6a24c9e1086482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846bf001f4044cd" /><Relationship Type="http://schemas.openxmlformats.org/officeDocument/2006/relationships/slideLayout" Target="/ppt/slideLayouts/slideLayout1.xml" Id="R97a3a6434dcf47b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7a3a6434dcf47b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76818c3a004810" /><Relationship Type="http://schemas.openxmlformats.org/officeDocument/2006/relationships/notesSlide" Target="/ppt/notesSlides/notesSlide1.xml" Id="R617e780b86884b2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cbca743b874e55" /><Relationship Type="http://schemas.openxmlformats.org/officeDocument/2006/relationships/notesSlide" Target="/ppt/notesSlides/notesSlide2.xml" Id="Rad074e5c30754d6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0cb2d3514e4aed" /><Relationship Type="http://schemas.openxmlformats.org/officeDocument/2006/relationships/image" Target="/ppt/media/image.png" Id="R8e04c576eaff47de" /><Relationship Type="http://schemas.openxmlformats.org/officeDocument/2006/relationships/notesSlide" Target="/ppt/notesSlides/notesSlide3.xml" Id="R406309e8ec024e1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785ed4dddf4aac" /><Relationship Type="http://schemas.openxmlformats.org/officeDocument/2006/relationships/image" Target="/ppt/media/image2.png" Id="R876043f1b9fd4665" /><Relationship Type="http://schemas.openxmlformats.org/officeDocument/2006/relationships/notesSlide" Target="/ppt/notesSlides/notesSlide4.xml" Id="R65ac4bce886d4ae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f68abf3abf4a2b" /><Relationship Type="http://schemas.openxmlformats.org/officeDocument/2006/relationships/image" Target="/ppt/media/image3.png" Id="R134ec43e1cce421f" /><Relationship Type="http://schemas.openxmlformats.org/officeDocument/2006/relationships/notesSlide" Target="/ppt/notesSlides/notesSlide5.xml" Id="Rc5b752b15291462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0017416c894332" /><Relationship Type="http://schemas.openxmlformats.org/officeDocument/2006/relationships/notesSlide" Target="/ppt/notesSlides/notesSlide6.xml" Id="R2ee54fad838c4ce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6F0E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7DE873F-6AFB-4459-BE32-8C1E07C41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287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4A3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9E36A4A-BDB9-4103-9718-7982ECB0E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960120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B68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5B6870"/>
                </a:solidFill>
                <a:latin typeface="Helvetica Neue"/>
                <a:ea typeface="Helvetica Neue"/>
                <a:cs typeface="Helvetica Neue"/>
              </a:rPr>
              <a:t>1/6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A0B7A67-018D-4BF7-B3C4-D6C6A0496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952500"/>
            <a:ext cx="8858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8400" b="1">
                <a:solidFill>
                  <a:srgbClr val="267EB5"/>
                </a:solidFill>
                <a:latin typeface="Helvetica Neue"/>
                <a:ea typeface="Helvetica Neue"/>
                <a:cs typeface="Helvetica Neue"/>
              </a:defRPr>
            </a:pPr>
            <a:r>
              <a:rPr sz="8400" b="1">
                <a:solidFill>
                  <a:srgbClr val="267EB5"/>
                </a:solidFill>
                <a:latin typeface="Helvetica Neue"/>
                <a:ea typeface="Helvetica Neue"/>
                <a:cs typeface="Helvetica Neue"/>
              </a:rPr>
              <a:t>00:00.500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1B3ED8F-50A5-4593-BA04-6B1C6C4BE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24150"/>
            <a:ext cx="13335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84A3A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081A59D-C697-4556-B0FE-3AC01970F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19450"/>
            <a:ext cx="87630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5400" b="1">
                <a:solidFill>
                  <a:srgbClr val="142A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5400" b="1">
                <a:solidFill>
                  <a:srgbClr val="142A36"/>
                </a:solidFill>
                <a:latin typeface="Helvetica Neue"/>
                <a:ea typeface="Helvetica Neue"/>
                <a:cs typeface="Helvetica Neue"/>
              </a:rPr>
              <a:t>When sight and sound</a:t>
            </a:r>
          </a:p>
          <a:p xmlns:a="http://schemas.openxmlformats.org/drawingml/2006/main">
            <a:pPr>
              <a:defRPr sz="5400" b="1">
                <a:solidFill>
                  <a:srgbClr val="142A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5400" b="1">
                <a:solidFill>
                  <a:srgbClr val="142A36"/>
                </a:solidFill>
                <a:latin typeface="Helvetica Neue"/>
                <a:ea typeface="Helvetica Neue"/>
                <a:cs typeface="Helvetica Neue"/>
              </a:rPr>
              <a:t>disagree about time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66C786C-CD8E-42C0-AE85-F7A2A17E6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572250"/>
            <a:ext cx="7715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0">
                <a:solidFill>
                  <a:srgbClr val="5B68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0">
                <a:solidFill>
                  <a:srgbClr val="5B6870"/>
                </a:solidFill>
                <a:latin typeface="Helvetica Neue"/>
                <a:ea typeface="Helvetica Neue"/>
                <a:cs typeface="Helvetica Neue"/>
              </a:rPr>
              <a:t>Can visual duration change how long a sound seems?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5841022-007F-41BF-9D40-521FD63E3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858250"/>
            <a:ext cx="8096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B68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5B6870"/>
                </a:solidFill>
                <a:latin typeface="Helvetica Neue"/>
                <a:ea typeface="Helvetica Neue"/>
                <a:cs typeface="Helvetica Neue"/>
              </a:rPr>
              <a:t>Duration judgments with conflicting audiovisual cues</a:t>
            </a:r>
          </a:p>
        </p:txBody>
      </p:sp>
    </p:spTree>
    <p:extLst>
      <p:ext uri="{BB962C8B-B14F-4D97-AF65-F5344CB8AC3E}">
        <p14:creationId xmlns:p14="http://schemas.microsoft.com/office/powerpoint/2010/main" val="4978938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6F0E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A2D6DB8-94F0-4679-A369-185C976A6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287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7C7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EA1D292-B1AC-42D5-BBF8-2C6170323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960120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B68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5B6870"/>
                </a:solidFill>
                <a:latin typeface="Helvetica Neue"/>
                <a:ea typeface="Helvetica Neue"/>
                <a:cs typeface="Helvetica Neue"/>
              </a:rPr>
              <a:t>2/6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28DF916-3E28-4B61-B2FA-2C3653438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8096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4650" b="1">
                <a:solidFill>
                  <a:srgbClr val="142A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4650" b="1">
                <a:solidFill>
                  <a:srgbClr val="142A36"/>
                </a:solidFill>
                <a:latin typeface="Helvetica Neue"/>
                <a:ea typeface="Helvetica Neue"/>
                <a:cs typeface="Helvetica Neue"/>
              </a:rPr>
              <a:t>The question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2EFA00A-1D15-42BA-AE66-304E7DAB5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381250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28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287C78"/>
                </a:solidFill>
                <a:latin typeface="Helvetica Neue"/>
                <a:ea typeface="Helvetica Neue"/>
                <a:cs typeface="Helvetica Neue"/>
              </a:rPr>
              <a:t>Small conflict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9AD8259-B8FE-4A99-A5CA-38E060736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86100"/>
            <a:ext cx="39052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42A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42A36"/>
                </a:solidFill>
                <a:latin typeface="Helvetica Neue"/>
                <a:ea typeface="Helvetica Neue"/>
                <a:cs typeface="Helvetica Neue"/>
              </a:rPr>
              <a:t>The senses may belong</a:t>
            </a:r>
          </a:p>
          <a:p xmlns:a="http://schemas.openxmlformats.org/drawingml/2006/main">
            <a:pPr>
              <a:defRPr sz="3150" b="1">
                <a:solidFill>
                  <a:srgbClr val="142A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42A36"/>
                </a:solidFill>
                <a:latin typeface="Helvetica Neue"/>
                <a:ea typeface="Helvetica Neue"/>
                <a:cs typeface="Helvetica Neue"/>
              </a:rPr>
              <a:t>to one event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75BB7D6-2AEA-4D0C-BEE9-0EF5688B4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762500"/>
            <a:ext cx="3810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5100" b="1">
                <a:solidFill>
                  <a:srgbClr val="28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5100" b="1">
                <a:solidFill>
                  <a:srgbClr val="287C78"/>
                </a:solidFill>
                <a:latin typeface="Helvetica Neue"/>
                <a:ea typeface="Helvetica Neue"/>
                <a:cs typeface="Helvetica Neue"/>
              </a:rPr>
              <a:t>Integrate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E8ADA4A-B4AC-46A7-8BFB-DB05F8E00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019300"/>
            <a:ext cx="28575" cy="476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8BC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B2DC5AD-3F9B-4370-BD40-720AD33C2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381250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D84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D84A3A"/>
                </a:solidFill>
                <a:latin typeface="Helvetica Neue"/>
                <a:ea typeface="Helvetica Neue"/>
                <a:cs typeface="Helvetica Neue"/>
              </a:rPr>
              <a:t>Large conflict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80A416A-F439-4A5E-82FB-B77E5A3AC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086100"/>
            <a:ext cx="39052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42A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42A36"/>
                </a:solidFill>
                <a:latin typeface="Helvetica Neue"/>
                <a:ea typeface="Helvetica Neue"/>
                <a:cs typeface="Helvetica Neue"/>
              </a:rPr>
              <a:t>Do the senses still seem</a:t>
            </a:r>
          </a:p>
          <a:p xmlns:a="http://schemas.openxmlformats.org/drawingml/2006/main">
            <a:pPr>
              <a:defRPr sz="3150" b="1">
                <a:solidFill>
                  <a:srgbClr val="142A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42A36"/>
                </a:solidFill>
                <a:latin typeface="Helvetica Neue"/>
                <a:ea typeface="Helvetica Neue"/>
                <a:cs typeface="Helvetica Neue"/>
              </a:rPr>
              <a:t>to share a cause?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EE175BA-51E9-4650-B250-551AC86AB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762500"/>
            <a:ext cx="3810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5100" b="1">
                <a:solidFill>
                  <a:srgbClr val="D84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5100" b="1">
                <a:solidFill>
                  <a:srgbClr val="D84A3A"/>
                </a:solidFill>
                <a:latin typeface="Helvetica Neue"/>
                <a:ea typeface="Helvetica Neue"/>
                <a:cs typeface="Helvetica Neue"/>
              </a:rPr>
              <a:t>Segregate?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528BCDF-C240-4E24-B895-4541B6949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7562850"/>
            <a:ext cx="8477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0">
                <a:solidFill>
                  <a:srgbClr val="5B68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0">
                <a:solidFill>
                  <a:srgbClr val="5B6870"/>
                </a:solidFill>
                <a:latin typeface="Helvetica Neue"/>
                <a:ea typeface="Helvetica Neue"/>
                <a:cs typeface="Helvetica Neue"/>
              </a:rPr>
              <a:t>Causal inference predicts less integration as the conflict grows.</a:t>
            </a:r>
          </a:p>
        </p:txBody>
      </p:sp>
    </p:spTree>
    <p:extLst>
      <p:ext uri="{BB962C8B-B14F-4D97-AF65-F5344CB8AC3E}">
        <p14:creationId xmlns:p14="http://schemas.microsoft.com/office/powerpoint/2010/main" val="36473047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6F0E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F7027DA-E573-454B-8689-0D7E3F4DD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287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7EB5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CBEBAFD-7C95-48DC-8B59-A9A7EA82D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960120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B68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5B6870"/>
                </a:solidFill>
                <a:latin typeface="Helvetica Neue"/>
                <a:ea typeface="Helvetica Neue"/>
                <a:cs typeface="Helvetica Neue"/>
              </a:rPr>
              <a:t>3/6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3FA3B1E-9844-469A-8EEC-26E0354D3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8953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4500" b="1">
                <a:solidFill>
                  <a:srgbClr val="142A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4500" b="1">
                <a:solidFill>
                  <a:srgbClr val="142A36"/>
                </a:solidFill>
                <a:latin typeface="Helvetica Neue"/>
                <a:ea typeface="Helvetica Neue"/>
                <a:cs typeface="Helvetica Neue"/>
              </a:rPr>
              <a:t>Audiovisual duration conflict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FDB5E32-74B8-439B-906C-2F8AE6719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62100"/>
            <a:ext cx="857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5B68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0">
                <a:solidFill>
                  <a:srgbClr val="5B6870"/>
                </a:solidFill>
                <a:latin typeface="Helvetica Neue"/>
                <a:ea typeface="Helvetica Neue"/>
                <a:cs typeface="Helvetica Neue"/>
              </a:rPr>
              <a:t>Participants judged the sound. The visual duration varied.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8376C12-B8FB-42A2-A184-86D089425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571750"/>
            <a:ext cx="9105900" cy="4972050"/>
          </a:xfrm>
          <a:prstGeom xmlns:a="http://schemas.openxmlformats.org/drawingml/2006/main" prst="roundRect">
            <a:avLst>
              <a:gd name="adj" fmla="val 42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e04c576eaff47de"/>
          <a:stretch xmlns:a="http://schemas.openxmlformats.org/drawingml/2006/main"/>
        </p:blipFill>
        <p:spPr>
          <a:xfrm xmlns:a="http://schemas.openxmlformats.org/drawingml/2006/main">
            <a:off x="838200" y="3150113"/>
            <a:ext cx="8610600" cy="3843899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8ADDD58-43C2-4A72-9968-68999BC26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039100"/>
            <a:ext cx="314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D84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D84A3A"/>
                </a:solidFill>
                <a:latin typeface="Helvetica Neue"/>
                <a:ea typeface="Helvetica Neue"/>
                <a:cs typeface="Helvetica Neue"/>
              </a:rPr>
              <a:t>7 conflict levels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E6B25CB-5D52-4CD5-9AF5-70807FFB3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572500"/>
            <a:ext cx="3619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42A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42A36"/>
                </a:solidFill>
                <a:latin typeface="Helvetica Neue"/>
                <a:ea typeface="Helvetica Neue"/>
                <a:cs typeface="Helvetica Neue"/>
              </a:rPr>
              <a:t>−250 to +250 ms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1FF748F-3FC9-4E52-A0EA-5DEC17D06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8039100"/>
            <a:ext cx="3810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267EB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267EB5"/>
                </a:solidFill>
                <a:latin typeface="Helvetica Neue"/>
                <a:ea typeface="Helvetica Neue"/>
                <a:cs typeface="Helvetica Neue"/>
              </a:rPr>
              <a:t>2 auditory noise levels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A187353-A004-4B69-8208-F8F7F225B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8591550"/>
            <a:ext cx="4191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42A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0">
                <a:solidFill>
                  <a:srgbClr val="142A36"/>
                </a:solidFill>
                <a:latin typeface="Helvetica Neue"/>
                <a:ea typeface="Helvetica Neue"/>
                <a:cs typeface="Helvetica Neue"/>
              </a:rPr>
              <a:t>clear sound  /  noisy sound</a:t>
            </a:r>
          </a:p>
        </p:txBody>
      </p:sp>
    </p:spTree>
    <p:extLst>
      <p:ext uri="{BB962C8B-B14F-4D97-AF65-F5344CB8AC3E}">
        <p14:creationId xmlns:p14="http://schemas.microsoft.com/office/powerpoint/2010/main" val="70038182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6F0E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17C101B-ABCD-4450-88EE-108F6DEFE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287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4A3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78917EA-C262-401F-A74B-6BCA57578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960120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B68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5B6870"/>
                </a:solidFill>
                <a:latin typeface="Helvetica Neue"/>
                <a:ea typeface="Helvetica Neue"/>
                <a:cs typeface="Helvetica Neue"/>
              </a:rPr>
              <a:t>4/6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14CBFBD-AE56-4BF1-BC9D-773883537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8953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142A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4350" b="1">
                <a:solidFill>
                  <a:srgbClr val="142A36"/>
                </a:solidFill>
                <a:latin typeface="Helvetica Neue"/>
                <a:ea typeface="Helvetica Neue"/>
                <a:cs typeface="Helvetica Neue"/>
              </a:rPr>
              <a:t>Vision pulled auditory judgments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EDDD383-34CA-4575-80F5-82CD1D865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04950"/>
            <a:ext cx="87153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625" b="0">
                <a:solidFill>
                  <a:srgbClr val="5B68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625" b="0">
                <a:solidFill>
                  <a:srgbClr val="5B6870"/>
                </a:solidFill>
                <a:latin typeface="Helvetica Neue"/>
                <a:ea typeface="Helvetica Neue"/>
                <a:cs typeface="Helvetica Neue"/>
              </a:rPr>
              <a:t>The pull grew with cue conflict and became much stronger when sound was noisy.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D5F6C81-5CD3-4669-82E8-C92606E72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09850"/>
            <a:ext cx="9144000" cy="5810250"/>
          </a:xfrm>
          <a:prstGeom xmlns:a="http://schemas.openxmlformats.org/drawingml/2006/main" prst="roundRect">
            <a:avLst>
              <a:gd name="adj" fmla="val 36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76043f1b9fd4665"/>
          <a:stretch xmlns:a="http://schemas.openxmlformats.org/drawingml/2006/main"/>
        </p:blipFill>
        <p:spPr>
          <a:xfrm xmlns:a="http://schemas.openxmlformats.org/drawingml/2006/main">
            <a:off x="742950" y="3036718"/>
            <a:ext cx="8801100" cy="499461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9683454-5989-4F69-B074-C875E24D0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782050"/>
            <a:ext cx="857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267EB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75" b="1">
                <a:solidFill>
                  <a:srgbClr val="267EB5"/>
                </a:solidFill>
                <a:latin typeface="Helvetica Neue"/>
                <a:ea typeface="Helvetica Neue"/>
                <a:cs typeface="Helvetica Neue"/>
              </a:rPr>
              <a:t>Less reliable sound gave vision more influence.</a:t>
            </a:r>
          </a:p>
        </p:txBody>
      </p:sp>
    </p:spTree>
    <p:extLst>
      <p:ext uri="{BB962C8B-B14F-4D97-AF65-F5344CB8AC3E}">
        <p14:creationId xmlns:p14="http://schemas.microsoft.com/office/powerpoint/2010/main" val="187710506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6F0E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C4EC4B9-E2F3-4CD5-AAB7-E42DD76CE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287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7C7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AF1DEBF-F01B-492C-A8B0-B54A42E98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960120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B68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5B6870"/>
                </a:solidFill>
                <a:latin typeface="Helvetica Neue"/>
                <a:ea typeface="Helvetica Neue"/>
                <a:cs typeface="Helvetica Neue"/>
              </a:rPr>
              <a:t>5/6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D1F2783-9C5E-453C-AF74-415FE32D2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89535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142A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4050" b="1">
                <a:solidFill>
                  <a:srgbClr val="142A36"/>
                </a:solidFill>
                <a:latin typeface="Helvetica Neue"/>
                <a:ea typeface="Helvetica Neue"/>
                <a:cs typeface="Helvetica Neue"/>
              </a:rPr>
              <a:t>Three models, almost one prediction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B74AA01-5762-4049-B2C9-E81AB0D83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00250"/>
            <a:ext cx="8763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625" b="0">
                <a:solidFill>
                  <a:srgbClr val="5B68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625" b="0">
                <a:solidFill>
                  <a:srgbClr val="5B6870"/>
                </a:solidFill>
                <a:latin typeface="Helvetica Neue"/>
                <a:ea typeface="Helvetica Neue"/>
                <a:cs typeface="Helvetica Neue"/>
              </a:rPr>
              <a:t>Forced fusion, causal inference, and cue switching produced nearly overlapping shifts.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5848FCA-54CE-4ECF-A25F-D499C47FB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067050"/>
            <a:ext cx="9144000" cy="523875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34ec43e1cce421f"/>
          <a:stretch xmlns:a="http://schemas.openxmlformats.org/drawingml/2006/main"/>
        </p:blipFill>
        <p:spPr>
          <a:xfrm xmlns:a="http://schemas.openxmlformats.org/drawingml/2006/main">
            <a:off x="704850" y="3372894"/>
            <a:ext cx="8858250" cy="4569912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3D44A2B-51BF-4E85-9A9C-5E0C4B571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610600"/>
            <a:ext cx="8763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28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287C78"/>
                </a:solidFill>
                <a:latin typeface="Helvetica Neue"/>
                <a:ea typeface="Helvetica Neue"/>
                <a:cs typeface="Helvetica Neue"/>
              </a:rPr>
              <a:t>The predicted causal-inference bend was weak within the tested range.</a:t>
            </a:r>
          </a:p>
        </p:txBody>
      </p:sp>
    </p:spTree>
    <p:extLst>
      <p:ext uri="{BB962C8B-B14F-4D97-AF65-F5344CB8AC3E}">
        <p14:creationId xmlns:p14="http://schemas.microsoft.com/office/powerpoint/2010/main" val="100080178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6F0E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278C935-3290-466B-85A8-2960BE698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287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7EB5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2A9CD48-DB5D-4792-8196-7BB833A39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960120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B68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5B6870"/>
                </a:solidFill>
                <a:latin typeface="Helvetica Neue"/>
                <a:ea typeface="Helvetica Neue"/>
                <a:cs typeface="Helvetica Neue"/>
              </a:rPr>
              <a:t>6/6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F446A81-63F7-44B7-8A84-2AABBD756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8953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4500" b="1">
                <a:solidFill>
                  <a:srgbClr val="142A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4500" b="1">
                <a:solidFill>
                  <a:srgbClr val="142A36"/>
                </a:solidFill>
                <a:latin typeface="Helvetica Neue"/>
                <a:ea typeface="Helvetica Neue"/>
                <a:cs typeface="Helvetica Neue"/>
              </a:rPr>
              <a:t>What did the models say?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F52C84E-EEF8-43CD-B249-B13F17A67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4095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450" b="1">
                <a:solidFill>
                  <a:srgbClr val="267EB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450" b="1">
                <a:solidFill>
                  <a:srgbClr val="267EB5"/>
                </a:solidFill>
                <a:latin typeface="Helvetica Neue"/>
                <a:ea typeface="Helvetica Neue"/>
                <a:cs typeface="Helvetica Neue"/>
              </a:rPr>
              <a:t>8 / 11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401C1F2-97A5-425F-A2F1-020CE2C2D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67125"/>
            <a:ext cx="5715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42A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1">
                <a:solidFill>
                  <a:srgbClr val="142A36"/>
                </a:solidFill>
                <a:latin typeface="Helvetica Neue"/>
                <a:ea typeface="Helvetica Neue"/>
                <a:cs typeface="Helvetica Neue"/>
              </a:rPr>
              <a:t>participants were best fit by</a:t>
            </a:r>
          </a:p>
          <a:p xmlns:a="http://schemas.openxmlformats.org/drawingml/2006/main">
            <a:pPr>
              <a:defRPr sz="2925" b="1">
                <a:solidFill>
                  <a:srgbClr val="142A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1">
                <a:solidFill>
                  <a:srgbClr val="142A36"/>
                </a:solidFill>
                <a:latin typeface="Helvetica Neue"/>
                <a:ea typeface="Helvetica Neue"/>
                <a:cs typeface="Helvetica Neue"/>
              </a:rPr>
              <a:t>probabilistic cue switching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A365011-4298-4F37-88BC-4B2F3BEB7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29250"/>
            <a:ext cx="8858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8BC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D2B979A-D2B1-4696-854E-E55E9EE10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00750"/>
            <a:ext cx="8763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D84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225" b="1">
                <a:solidFill>
                  <a:srgbClr val="D84A3A"/>
                </a:solidFill>
                <a:latin typeface="Helvetica Neue"/>
                <a:ea typeface="Helvetica Neue"/>
                <a:cs typeface="Helvetica Neue"/>
              </a:rPr>
              <a:t>But the differences among models were small.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4E31EDD-D15E-414E-BB49-EAB5CF9D2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934200"/>
            <a:ext cx="8572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850" b="0">
                <a:solidFill>
                  <a:srgbClr val="142A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0">
                <a:solidFill>
                  <a:srgbClr val="142A36"/>
                </a:solidFill>
                <a:latin typeface="Helvetica Neue"/>
                <a:ea typeface="Helvetica Neue"/>
                <a:cs typeface="Helvetica Neue"/>
              </a:rPr>
              <a:t>High sensory noise made forced fusion and causal inference especially difficult to tell apart.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DAC45E1-A295-414A-8948-DA9CB906B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591550"/>
            <a:ext cx="857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28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287C78"/>
                </a:solidFill>
                <a:latin typeface="Helvetica Neue"/>
                <a:ea typeface="Helvetica Neue"/>
                <a:cs typeface="Helvetica Neue"/>
              </a:rPr>
              <a:t>No clear breakdown of integration within the tested conflict range</a:t>
            </a:r>
          </a:p>
        </p:txBody>
      </p:sp>
    </p:spTree>
    <p:extLst>
      <p:ext uri="{BB962C8B-B14F-4D97-AF65-F5344CB8AC3E}">
        <p14:creationId xmlns:p14="http://schemas.microsoft.com/office/powerpoint/2010/main" val="176004568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2026-09-18T19:30:03.1370000Z</dcterms:created>
  <dcterms:modified xsi:type="dcterms:W3CDTF">2026-09-18T19:30:03.1370000Z</dcterms:modified>
</coreProperties>
</file>